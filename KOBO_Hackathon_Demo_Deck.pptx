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200"/>
    <a:srgbClr val="F5F4EE"/>
    <a:srgbClr val="9EB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804" autoAdjust="0"/>
  </p:normalViewPr>
  <p:slideViewPr>
    <p:cSldViewPr snapToGrid="0">
      <p:cViewPr varScale="1">
        <p:scale>
          <a:sx n="70" d="100"/>
          <a:sy n="70" d="100"/>
        </p:scale>
        <p:origin x="8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Every month, someone in Ireland sends €500 home to Nigeria.</a:t>
            </a:r>
          </a:p>
          <a:p>
            <a:pPr rtl="0"/>
            <a:r>
              <a:rPr lang="en-IE" dirty="0"/>
              <a:t>But the transfer isn't really the point</a:t>
            </a:r>
          </a:p>
          <a:p>
            <a:pPr rtl="0"/>
            <a:r>
              <a:rPr lang="en-IE" dirty="0"/>
              <a:t>The point is who's waiting on the other side. A parent. A sibling. fees due on any random day.</a:t>
            </a:r>
          </a:p>
          <a:p>
            <a:pPr rtl="0"/>
            <a:r>
              <a:rPr lang="en-IE" dirty="0"/>
              <a:t>Right now, that same €500 gets eaten by fees, a bad exchange rate, and days of waiting — before it even lands. </a:t>
            </a:r>
          </a:p>
          <a:p>
            <a:pPr rtl="0"/>
            <a:r>
              <a:rPr lang="en-IE" dirty="0"/>
              <a:t>And, once it does land, it keeps losing value sitting in a currency that's depreciating fast.</a:t>
            </a:r>
          </a:p>
          <a:p>
            <a:pPr rtl="0"/>
            <a:r>
              <a:rPr lang="en-IE" dirty="0"/>
              <a:t>We think sending money home shouldn't cost you peace of mind. </a:t>
            </a:r>
          </a:p>
          <a:p>
            <a:pPr rtl="0"/>
            <a:r>
              <a:rPr lang="en-IE" dirty="0"/>
              <a:t>So we built Kobo,  better rails, and a simpler experience, from Ireland to Nigeria.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A transfer isn't one event — it's five steps, and value can leak out at more than one of them. It starts as a real family need. Then a fee — some visible, some hidden. Then FX — a rate you don't control and often don't see until after. Then waiting — processing time with no clarity on where your money actually is. And by the time it's received, the family has less clarity than they should — about what arrived, and what it cost to get there.</a:t>
            </a:r>
          </a:p>
          <a:p>
            <a:pPr rtl="0"/>
            <a:r>
              <a:rPr lang="en-IE" dirty="0"/>
              <a:t>Add it up, and the average cost of sending money to Nigeria today is 6.36%. That's not a rounding error — that's real money that never reaches the people who need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We started where the problem is personal.</a:t>
            </a:r>
          </a:p>
          <a:p>
            <a:pPr rtl="0"/>
            <a:r>
              <a:rPr lang="en-IE" dirty="0"/>
              <a:t>Nigeria is one of the largest remittance-receiving markets in Sub-Saharan Africa — $28.5 billion estimated over the next two years. That's the scale of the market we're eventually built for, not a corridor-specific number — Ireland-to-Nigeria is our wedge into it.</a:t>
            </a:r>
          </a:p>
          <a:p>
            <a:pPr rtl="0"/>
            <a:r>
              <a:rPr lang="en-IE" dirty="0"/>
              <a:t>A lot of that population already moves money the hardest way — P2P, exchanges, workarounds — because the tools built for them don't exist yet. Most of them should never have to become crypto users to get the benefit crypto actually offers.</a:t>
            </a:r>
          </a:p>
          <a:p>
            <a:pPr rtl="0"/>
            <a:r>
              <a:rPr lang="en-IE" dirty="0"/>
              <a:t>We're starting in Ireland, with a growing Nigerian-born community that shares this exact problem — and that's who we're building for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We respect the players already here. Western Union and MoneyGram have the distribution and the trust families rely on. </a:t>
            </a:r>
            <a:r>
              <a:rPr lang="en-IE" dirty="0" err="1"/>
              <a:t>Remitly</a:t>
            </a:r>
            <a:r>
              <a:rPr lang="en-IE" dirty="0"/>
              <a:t> makes the digital experience clearer. Stablecoin infrastructure players like Yellow Card bring modern settlement and liquidity.</a:t>
            </a:r>
          </a:p>
          <a:p>
            <a:pPr rtl="0"/>
            <a:r>
              <a:rPr lang="en-IE" dirty="0"/>
              <a:t>None of them failed — they each solved part of the journey. Kobo's opportunity is to connect those parts: make the underlying rail better, without asking everyday users to learn about wallets, networks, or do the work themselves.</a:t>
            </a:r>
          </a:p>
          <a:p>
            <a:pPr rtl="0"/>
            <a:r>
              <a:rPr lang="en-IE" dirty="0"/>
              <a:t>We're not reinventing payments. We're fixing the experience around them — hiding the rail, showing the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defRPr sz="1650" b="0">
                <a:solidFill>
                  <a:srgbClr val="A9AAA1"/>
                </a:solidFill>
              </a:defRPr>
            </a:pPr>
            <a:r>
              <a:rPr lang="en-IE" sz="1650" b="0" kern="1200" dirty="0"/>
              <a:t>Kobo is built to give people that experience — stablecoins are the infrastructure underneath, doing the work so the user never has to see it.</a:t>
            </a:r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I choose who I'm sending to. I enter the amount. I see exactly what lands on the other side. And I send. That's it."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Under the hood: a person sends to Kobo, Kobo settles in USDC on Solana, and it lands in a family wallet. Stablecoins are the infrastructure the user never sees any of this.</a:t>
            </a:r>
          </a:p>
          <a:p>
            <a:pPr rtl="0"/>
            <a:r>
              <a:rPr lang="en-IE" dirty="0"/>
              <a:t>Built today: real account and PIN authentication, recipient flow, balance handling, transfer lifecycle, and on-ramp session and webhook handling, settling on Solana </a:t>
            </a:r>
            <a:r>
              <a:rPr lang="en-IE" dirty="0" err="1"/>
              <a:t>devnet</a:t>
            </a:r>
            <a:r>
              <a:rPr lang="en-IE" dirty="0"/>
              <a:t>.</a:t>
            </a:r>
          </a:p>
          <a:p>
            <a:pPr rtl="0"/>
            <a:r>
              <a:rPr lang="en-IE" dirty="0"/>
              <a:t>we have real conversations already underway with the partners who'll harden this: </a:t>
            </a:r>
            <a:r>
              <a:rPr lang="en-IE" dirty="0" err="1"/>
              <a:t>Confirmo</a:t>
            </a:r>
            <a:r>
              <a:rPr lang="en-IE" dirty="0"/>
              <a:t> on the payments and compliance side, </a:t>
            </a:r>
            <a:r>
              <a:rPr lang="en-IE" dirty="0" err="1"/>
              <a:t>PAJcash</a:t>
            </a:r>
            <a:r>
              <a:rPr lang="en-IE" dirty="0"/>
              <a:t> for cash-out, and </a:t>
            </a:r>
            <a:r>
              <a:rPr lang="en-IE" dirty="0" err="1"/>
              <a:t>StableCorp</a:t>
            </a:r>
            <a:r>
              <a:rPr lang="en-IE" dirty="0"/>
              <a:t> for on-ramp infrastructure. That's the next step — not a technical unknown, a partnership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E" dirty="0"/>
              <a:t>We're building the payment experience our families deserve.</a:t>
            </a:r>
          </a:p>
          <a:p>
            <a:pPr rtl="0"/>
            <a:r>
              <a:rPr lang="en-IE" dirty="0"/>
              <a:t>We don't need everyone to understand crypto. We need them to understand that their money should move better — that's it.</a:t>
            </a:r>
          </a:p>
          <a:p>
            <a:pPr rtl="0"/>
            <a:r>
              <a:rPr lang="en-IE" dirty="0"/>
              <a:t>kobopayments.com. Join the waitlist — the QR code's up now.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3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4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7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3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4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37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4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1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8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3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08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0717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83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96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0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3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588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69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6008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774ADF4-79E8-4F6D-A0FF-C6A615DB0DC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5F4EE"/>
                </a:solidFill>
              </a:defRPr>
            </a:pPr>
            <a:r>
              <a:rPr sz="1200" b="1" dirty="0">
                <a:solidFill>
                  <a:schemeClr val="bg1"/>
                </a:solidFill>
              </a:rPr>
              <a:t>KOBO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B6CCD5-F796-40DC-9FF9-72443ABEBB5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68580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F5F4EE"/>
                </a:solidFill>
              </a:defRPr>
            </a:pPr>
            <a:r>
              <a:rPr sz="4800" b="1" dirty="0">
                <a:solidFill>
                  <a:schemeClr val="bg1"/>
                </a:solidFill>
              </a:rPr>
              <a:t>Sending money home</a:t>
            </a:r>
          </a:p>
          <a:p>
            <a:pPr algn="l">
              <a:defRPr sz="4800" b="1">
                <a:solidFill>
                  <a:srgbClr val="F5F4EE"/>
                </a:solidFill>
              </a:defRPr>
            </a:pPr>
            <a:r>
              <a:rPr sz="4800" b="1" dirty="0">
                <a:solidFill>
                  <a:schemeClr val="bg1"/>
                </a:solidFill>
              </a:rPr>
              <a:t>shouldn't cost you</a:t>
            </a:r>
          </a:p>
          <a:p>
            <a:pPr algn="l">
              <a:defRPr sz="4800" b="1">
                <a:solidFill>
                  <a:srgbClr val="F5F4EE"/>
                </a:solidFill>
              </a:defRPr>
            </a:pPr>
            <a:r>
              <a:rPr sz="4800" b="1" dirty="0">
                <a:solidFill>
                  <a:schemeClr val="bg1"/>
                </a:solidFill>
              </a:rPr>
              <a:t>peace of mind.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32DA9-D0A0-4FE1-A603-5EAE41313777}"/>
              </a:ext>
            </a:extLst>
          </p:cNvPr>
          <p:cNvSpPr>
            <a:spLocks noGrp="1"/>
          </p:cNvSpPr>
          <p:nvPr/>
        </p:nvSpPr>
        <p:spPr>
          <a:xfrm>
            <a:off x="647700" y="4019550"/>
            <a:ext cx="581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A9AAA1"/>
                </a:solidFill>
              </a:defRPr>
            </a:pPr>
            <a:r>
              <a:rPr sz="1650" b="0" dirty="0">
                <a:solidFill>
                  <a:schemeClr val="bg1"/>
                </a:solidFill>
              </a:rPr>
              <a:t>A person sends €500. The point is not the transfer.</a:t>
            </a:r>
          </a:p>
          <a:p>
            <a:pPr algn="l">
              <a:defRPr sz="1650" b="0">
                <a:solidFill>
                  <a:srgbClr val="A9AAA1"/>
                </a:solidFill>
              </a:defRPr>
            </a:pPr>
            <a:r>
              <a:rPr sz="1650" b="0" dirty="0">
                <a:solidFill>
                  <a:schemeClr val="bg1"/>
                </a:solidFill>
              </a:rPr>
              <a:t>It's who is waiting on the other side.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26376E-E8C7-4DAB-8894-A658F477C0A0}"/>
              </a:ext>
            </a:extLst>
          </p:cNvPr>
          <p:cNvSpPr>
            <a:spLocks noGrp="1"/>
          </p:cNvSpPr>
          <p:nvPr/>
        </p:nvSpPr>
        <p:spPr>
          <a:xfrm>
            <a:off x="7715250" y="1466850"/>
            <a:ext cx="3257550" cy="3467100"/>
          </a:xfrm>
          <a:prstGeom prst="roundRect">
            <a:avLst>
              <a:gd name="adj" fmla="val 8187"/>
            </a:avLst>
          </a:prstGeom>
          <a:solidFill>
            <a:srgbClr val="20211E"/>
          </a:solidFill>
          <a:ln w="9525">
            <a:solidFill>
              <a:srgbClr val="43453F"/>
            </a:solidFill>
            <a:prstDash val="solid"/>
          </a:ln>
        </p:spPr>
        <p:txBody>
          <a:bodyPr/>
          <a:lstStyle/>
          <a:p>
            <a:endParaRPr lang="en-IE">
              <a:solidFill>
                <a:srgbClr val="F5F4E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18735-352B-47A1-8A71-8D234303A1E7}"/>
              </a:ext>
            </a:extLst>
          </p:cNvPr>
          <p:cNvSpPr>
            <a:spLocks noGrp="1"/>
          </p:cNvSpPr>
          <p:nvPr/>
        </p:nvSpPr>
        <p:spPr>
          <a:xfrm>
            <a:off x="8096250" y="196215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200" b="1">
                <a:solidFill>
                  <a:srgbClr val="F5F4EE"/>
                </a:solidFill>
              </a:defRPr>
            </a:pPr>
            <a:r>
              <a:rPr sz="4200" b="1">
                <a:solidFill>
                  <a:srgbClr val="F5F4EE"/>
                </a:solidFill>
              </a:rPr>
              <a:t>€500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DD0E2EF-C2F9-4DDD-B591-CDCFE4AA259A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200025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E">
              <a:solidFill>
                <a:srgbClr val="F5F4E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70B06F-3D8B-4722-A04A-518E0B841E05}"/>
              </a:ext>
            </a:extLst>
          </p:cNvPr>
          <p:cNvSpPr>
            <a:spLocks noGrp="1"/>
          </p:cNvSpPr>
          <p:nvPr/>
        </p:nvSpPr>
        <p:spPr>
          <a:xfrm>
            <a:off x="8077200" y="3162300"/>
            <a:ext cx="2552700" cy="285750"/>
          </a:xfrm>
          <a:prstGeom prst="rect">
            <a:avLst/>
          </a:prstGeom>
          <a:solidFill>
            <a:srgbClr val="20211E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E84937"/>
                </a:solidFill>
              </a:defRPr>
            </a:pPr>
            <a:r>
              <a:rPr sz="1350" b="1" dirty="0">
                <a:solidFill>
                  <a:srgbClr val="FF0000"/>
                </a:solidFill>
              </a:rPr>
              <a:t>fees  ·  FX  ·  waiting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9A74BB1-0C55-40B9-A4DE-A1E33B819048}"/>
              </a:ext>
            </a:extLst>
          </p:cNvPr>
          <p:cNvSpPr>
            <a:spLocks noGrp="1"/>
          </p:cNvSpPr>
          <p:nvPr/>
        </p:nvSpPr>
        <p:spPr>
          <a:xfrm>
            <a:off x="8334375" y="3724275"/>
            <a:ext cx="2000250" cy="0"/>
          </a:xfrm>
          <a:prstGeom prst="line">
            <a:avLst/>
          </a:prstGeom>
          <a:noFill/>
          <a:ln w="28575">
            <a:solidFill>
              <a:srgbClr val="96D200"/>
            </a:solidFill>
            <a:prstDash val="solid"/>
          </a:ln>
        </p:spPr>
        <p:txBody>
          <a:bodyPr/>
          <a:lstStyle/>
          <a:p>
            <a:endParaRPr lang="en-IE">
              <a:solidFill>
                <a:srgbClr val="F5F4E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5BAD6-0359-49F0-B8F3-C4344DB5570F}"/>
              </a:ext>
            </a:extLst>
          </p:cNvPr>
          <p:cNvSpPr>
            <a:spLocks noGrp="1"/>
          </p:cNvSpPr>
          <p:nvPr/>
        </p:nvSpPr>
        <p:spPr>
          <a:xfrm>
            <a:off x="8048625" y="3943350"/>
            <a:ext cx="2609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C8FF3D"/>
                </a:solidFill>
              </a:defRPr>
            </a:pPr>
            <a:r>
              <a:rPr sz="1575" b="1" dirty="0">
                <a:solidFill>
                  <a:srgbClr val="96D200"/>
                </a:solidFill>
              </a:rPr>
              <a:t>KOBO → family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A9C0D-843C-44AA-B1EF-691615535940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8FF3D"/>
                </a:solidFill>
              </a:defRPr>
            </a:pPr>
            <a:r>
              <a:rPr sz="1350" b="1" dirty="0">
                <a:solidFill>
                  <a:schemeClr val="bg1"/>
                </a:solidFill>
              </a:rPr>
              <a:t>Better rails. A simpler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12619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749CC4F-8B96-42BD-8F12-701DA2DE471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C0D0C"/>
                </a:solidFill>
              </a:defRPr>
            </a:pPr>
            <a:r>
              <a:rPr dirty="0">
                <a:solidFill>
                  <a:schemeClr val="bg1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D5BA73-0302-4221-AE47-D9AAF705F7B3}"/>
              </a:ext>
            </a:extLst>
          </p:cNvPr>
          <p:cNvSpPr>
            <a:spLocks noGrp="1"/>
          </p:cNvSpPr>
          <p:nvPr/>
        </p:nvSpPr>
        <p:spPr>
          <a:xfrm>
            <a:off x="11029950" y="33337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C0D0C"/>
                </a:solidFill>
              </a:defRPr>
            </a:pPr>
            <a:r>
              <a:rPr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732274D-A13A-4A15-BADD-DF0819D9991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0"/>
          </a:xfrm>
          <a:prstGeom prst="line">
            <a:avLst/>
          </a:prstGeom>
          <a:noFill/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2F108-1E54-41BB-919E-DDD1C907A30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E5A40"/>
                </a:solidFill>
              </a:defRPr>
            </a:pPr>
            <a:r>
              <a:rPr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8E31B-628A-49AF-9D70-A7A748714C34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65722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0C0D0C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money moves.</a:t>
            </a:r>
          </a:p>
          <a:p>
            <a:pPr algn="l">
              <a:defRPr sz="3900" b="1">
                <a:solidFill>
                  <a:srgbClr val="0C0D0C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friction doesn't.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40276-E0BA-4A08-BE0E-DCA4A8AEAD14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E5A40"/>
                </a:solidFill>
              </a:defRPr>
            </a:pPr>
            <a:r>
              <a:rPr>
                <a:solidFill>
                  <a:schemeClr val="bg1"/>
                </a:solidFill>
              </a:rPr>
              <a:t>A transfer can lose value at more than one step.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26BAF4-5B5B-48A2-8100-7FF9FC247EBB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600200" cy="1200150"/>
          </a:xfrm>
          <a:prstGeom prst="roundRect">
            <a:avLst>
              <a:gd name="adj" fmla="val 12698"/>
            </a:avLst>
          </a:prstGeom>
          <a:solidFill>
            <a:srgbClr val="0C0D0C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B3C535-11A4-4CE0-AA2D-56667801D958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8FF3D"/>
                </a:solidFill>
              </a:defRPr>
            </a:pPr>
            <a:r>
              <a:t>SEND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D3ABCC-FEFC-4202-A0D7-3FBA646C3027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5F4EE"/>
                </a:solidFill>
              </a:defRPr>
            </a:pPr>
            <a:r>
              <a:rPr lang="en-IE" dirty="0"/>
              <a:t>For </a:t>
            </a:r>
            <a:r>
              <a:rPr dirty="0"/>
              <a:t>a family need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D4802-09DB-4F10-9805-3587B90380DD}"/>
              </a:ext>
            </a:extLst>
          </p:cNvPr>
          <p:cNvSpPr>
            <a:spLocks noGrp="1"/>
          </p:cNvSpPr>
          <p:nvPr/>
        </p:nvSpPr>
        <p:spPr>
          <a:xfrm>
            <a:off x="2276475" y="4095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E5A40"/>
                </a:solidFill>
              </a:defRPr>
            </a:pPr>
            <a: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65F86-7AF9-401D-9EBF-AE5A354770FF}"/>
              </a:ext>
            </a:extLst>
          </p:cNvPr>
          <p:cNvSpPr>
            <a:spLocks noGrp="1"/>
          </p:cNvSpPr>
          <p:nvPr/>
        </p:nvSpPr>
        <p:spPr>
          <a:xfrm>
            <a:off x="2647950" y="3752850"/>
            <a:ext cx="16002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26D904-D85C-4B7B-BAA3-19161CAFF94C}"/>
              </a:ext>
            </a:extLst>
          </p:cNvPr>
          <p:cNvSpPr>
            <a:spLocks noGrp="1"/>
          </p:cNvSpPr>
          <p:nvPr/>
        </p:nvSpPr>
        <p:spPr>
          <a:xfrm>
            <a:off x="2819400" y="40005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C0D0C"/>
                </a:solidFill>
              </a:defRPr>
            </a:pPr>
            <a:r>
              <a:t>FEE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992310-32DA-46CD-8C84-3DCF44D526B8}"/>
              </a:ext>
            </a:extLst>
          </p:cNvPr>
          <p:cNvSpPr>
            <a:spLocks noGrp="1"/>
          </p:cNvSpPr>
          <p:nvPr/>
        </p:nvSpPr>
        <p:spPr>
          <a:xfrm>
            <a:off x="2819400" y="43624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A9AAA1"/>
                </a:solidFill>
              </a:defRPr>
            </a:pPr>
            <a:r>
              <a:t>visible + hidden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9DBB35-9223-47DE-ADD0-C23BA18B93A2}"/>
              </a:ext>
            </a:extLst>
          </p:cNvPr>
          <p:cNvSpPr>
            <a:spLocks noGrp="1"/>
          </p:cNvSpPr>
          <p:nvPr/>
        </p:nvSpPr>
        <p:spPr>
          <a:xfrm>
            <a:off x="4314825" y="4095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E5A40"/>
                </a:solidFill>
              </a:defRPr>
            </a:pPr>
            <a: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E95C3F-04C7-4A90-ADDD-3F9598F891B2}"/>
              </a:ext>
            </a:extLst>
          </p:cNvPr>
          <p:cNvSpPr>
            <a:spLocks noGrp="1"/>
          </p:cNvSpPr>
          <p:nvPr/>
        </p:nvSpPr>
        <p:spPr>
          <a:xfrm>
            <a:off x="4686300" y="3752850"/>
            <a:ext cx="16002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B23A63-2AC2-440A-AC81-FE07134A7E5A}"/>
              </a:ext>
            </a:extLst>
          </p:cNvPr>
          <p:cNvSpPr>
            <a:spLocks noGrp="1"/>
          </p:cNvSpPr>
          <p:nvPr/>
        </p:nvSpPr>
        <p:spPr>
          <a:xfrm>
            <a:off x="4857750" y="40005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C0D0C"/>
                </a:solidFill>
              </a:defRPr>
            </a:pPr>
            <a:r>
              <a:t>FX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323B96-5E0A-43AC-89CC-7662BC0F9DA6}"/>
              </a:ext>
            </a:extLst>
          </p:cNvPr>
          <p:cNvSpPr>
            <a:spLocks noGrp="1"/>
          </p:cNvSpPr>
          <p:nvPr/>
        </p:nvSpPr>
        <p:spPr>
          <a:xfrm>
            <a:off x="4857750" y="43624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A9AAA1"/>
                </a:solidFill>
              </a:defRPr>
            </a:pPr>
            <a:r>
              <a:rPr lang="en-IE" dirty="0"/>
              <a:t>R</a:t>
            </a:r>
            <a:r>
              <a:rPr dirty="0"/>
              <a:t>ate</a:t>
            </a:r>
            <a:r>
              <a:rPr lang="en-IE" dirty="0"/>
              <a:t> </a:t>
            </a:r>
            <a:r>
              <a:rPr dirty="0"/>
              <a:t>uncertainty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C24CB8-6911-4EC3-A24C-EB3AB57012CE}"/>
              </a:ext>
            </a:extLst>
          </p:cNvPr>
          <p:cNvSpPr>
            <a:spLocks noGrp="1"/>
          </p:cNvSpPr>
          <p:nvPr/>
        </p:nvSpPr>
        <p:spPr>
          <a:xfrm>
            <a:off x="6353175" y="4095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E5A40"/>
                </a:solidFill>
              </a:defRPr>
            </a:pPr>
            <a: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7E3B9A-302E-41D7-9C87-F9545382ADAF}"/>
              </a:ext>
            </a:extLst>
          </p:cNvPr>
          <p:cNvSpPr>
            <a:spLocks noGrp="1"/>
          </p:cNvSpPr>
          <p:nvPr/>
        </p:nvSpPr>
        <p:spPr>
          <a:xfrm>
            <a:off x="6724650" y="3752850"/>
            <a:ext cx="1600200" cy="12001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483B60-3AF1-4E59-9047-57857A1BC835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C0D0C"/>
                </a:solidFill>
              </a:defRPr>
            </a:pPr>
            <a:r>
              <a:t>WAIT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FFC959-FEC3-4D8E-8108-60A4C0D708DA}"/>
              </a:ext>
            </a:extLst>
          </p:cNvPr>
          <p:cNvSpPr>
            <a:spLocks noGrp="1"/>
          </p:cNvSpPr>
          <p:nvPr/>
        </p:nvSpPr>
        <p:spPr>
          <a:xfrm>
            <a:off x="6896100" y="43624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A9AAA1"/>
                </a:solidFill>
              </a:defRPr>
            </a:pPr>
            <a:r>
              <a:t>processing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43105-89F1-4357-8465-26064532646D}"/>
              </a:ext>
            </a:extLst>
          </p:cNvPr>
          <p:cNvSpPr>
            <a:spLocks noGrp="1"/>
          </p:cNvSpPr>
          <p:nvPr/>
        </p:nvSpPr>
        <p:spPr>
          <a:xfrm>
            <a:off x="8391525" y="40957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E5A40"/>
                </a:solidFill>
              </a:defRPr>
            </a:pPr>
            <a: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407B544-36F8-4F14-9F62-73420CD84D47}"/>
              </a:ext>
            </a:extLst>
          </p:cNvPr>
          <p:cNvSpPr>
            <a:spLocks noGrp="1"/>
          </p:cNvSpPr>
          <p:nvPr/>
        </p:nvSpPr>
        <p:spPr>
          <a:xfrm>
            <a:off x="8763000" y="3752850"/>
            <a:ext cx="1600200" cy="1200150"/>
          </a:xfrm>
          <a:prstGeom prst="roundRect">
            <a:avLst>
              <a:gd name="adj" fmla="val 12698"/>
            </a:avLst>
          </a:prstGeom>
          <a:solidFill>
            <a:srgbClr val="0C0D0C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8AD483-2150-4DF5-96C5-92C0C1B71909}"/>
              </a:ext>
            </a:extLst>
          </p:cNvPr>
          <p:cNvSpPr>
            <a:spLocks noGrp="1"/>
          </p:cNvSpPr>
          <p:nvPr/>
        </p:nvSpPr>
        <p:spPr>
          <a:xfrm>
            <a:off x="8934450" y="40005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8FF3D"/>
                </a:solidFill>
              </a:defRPr>
            </a:pPr>
            <a:r>
              <a:t>RECEIVE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A9C7A6-3F31-47E8-A6CE-421C6FCC3720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5F4EE"/>
                </a:solidFill>
              </a:defRPr>
            </a:pPr>
            <a:r>
              <a:t>less clarity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C47CE6-A713-417E-838F-58E84D469138}"/>
              </a:ext>
            </a:extLst>
          </p:cNvPr>
          <p:cNvSpPr>
            <a:spLocks noGrp="1"/>
          </p:cNvSpPr>
          <p:nvPr/>
        </p:nvSpPr>
        <p:spPr>
          <a:xfrm>
            <a:off x="7639050" y="16764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4650" b="1">
                <a:solidFill>
                  <a:srgbClr val="1E5A40"/>
                </a:solidFill>
              </a:defRPr>
            </a:pPr>
            <a:r>
              <a:rPr>
                <a:solidFill>
                  <a:schemeClr val="bg1"/>
                </a:solidFill>
              </a:rPr>
              <a:t>6.36%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BC8E2E-4666-40A5-BD2E-04DCEE0DB93D}"/>
              </a:ext>
            </a:extLst>
          </p:cNvPr>
          <p:cNvSpPr>
            <a:spLocks noGrp="1"/>
          </p:cNvSpPr>
          <p:nvPr/>
        </p:nvSpPr>
        <p:spPr>
          <a:xfrm>
            <a:off x="7124700" y="23812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A9AAA1"/>
                </a:solidFill>
              </a:defRPr>
            </a:pPr>
            <a:r>
              <a:rPr dirty="0">
                <a:solidFill>
                  <a:schemeClr val="bg1"/>
                </a:solidFill>
              </a:rPr>
              <a:t>global average cost of sending a remittance</a:t>
            </a:r>
          </a:p>
        </p:txBody>
      </p:sp>
    </p:spTree>
    <p:extLst>
      <p:ext uri="{BB962C8B-B14F-4D97-AF65-F5344CB8AC3E}">
        <p14:creationId xmlns:p14="http://schemas.microsoft.com/office/powerpoint/2010/main" val="138415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FB10E71-A225-42E3-90BE-8C9D608153E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5F4EE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6AC46A-0923-400F-B2FD-4AA538431814}"/>
              </a:ext>
            </a:extLst>
          </p:cNvPr>
          <p:cNvSpPr>
            <a:spLocks noGrp="1"/>
          </p:cNvSpPr>
          <p:nvPr/>
        </p:nvSpPr>
        <p:spPr>
          <a:xfrm>
            <a:off x="11029950" y="33337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F5F4EE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7F8DC75-FE4A-4FAE-A33A-365DADA333C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0"/>
          </a:xfrm>
          <a:prstGeom prst="line">
            <a:avLst/>
          </a:prstGeom>
          <a:noFill/>
          <a:ln w="9525">
            <a:solidFill>
              <a:srgbClr val="3B3C38"/>
            </a:solidFill>
            <a:prstDash val="solid"/>
          </a:ln>
        </p:spPr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B99C9-2A5A-41C6-AB0A-549B9D4E074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8FF3D"/>
                </a:solidFill>
              </a:defRPr>
            </a:pPr>
            <a:r>
              <a:rPr sz="900" b="1">
                <a:solidFill>
                  <a:schemeClr val="bg1"/>
                </a:solidFill>
              </a:rPr>
              <a:t>WHY THIS CORRIDOR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E5593-00F0-4443-AD69-0BC30A159E2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715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5F4EE"/>
                </a:solidFill>
              </a:defRPr>
            </a:pPr>
            <a:r>
              <a:rPr sz="3750" b="1" dirty="0">
                <a:solidFill>
                  <a:schemeClr val="bg1"/>
                </a:solidFill>
              </a:rPr>
              <a:t>We started where</a:t>
            </a:r>
          </a:p>
          <a:p>
            <a:pPr algn="l">
              <a:defRPr sz="3750" b="1">
                <a:solidFill>
                  <a:srgbClr val="F5F4EE"/>
                </a:solidFill>
              </a:defRPr>
            </a:pPr>
            <a:r>
              <a:rPr sz="3750" b="1" dirty="0">
                <a:solidFill>
                  <a:schemeClr val="bg1"/>
                </a:solidFill>
              </a:rPr>
              <a:t>the problem is personal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DE1B0-727A-4FE9-B59E-719E1B09C22E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2076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C8FF3D"/>
                </a:solidFill>
              </a:defRPr>
            </a:pPr>
            <a:r>
              <a:rPr sz="2550" b="1">
                <a:solidFill>
                  <a:schemeClr val="bg1"/>
                </a:solidFill>
              </a:rPr>
              <a:t>Ireland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61A32-BADE-404C-9EAB-38792BED031B}"/>
              </a:ext>
            </a:extLst>
          </p:cNvPr>
          <p:cNvSpPr>
            <a:spLocks noGrp="1"/>
          </p:cNvSpPr>
          <p:nvPr/>
        </p:nvSpPr>
        <p:spPr>
          <a:xfrm>
            <a:off x="8534400" y="32575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550" b="1">
                <a:solidFill>
                  <a:srgbClr val="C8FF3D"/>
                </a:solidFill>
              </a:defRPr>
            </a:pPr>
            <a:r>
              <a:rPr sz="2550" b="1">
                <a:solidFill>
                  <a:schemeClr val="bg1"/>
                </a:solidFill>
              </a:rPr>
              <a:t>Nigeria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E16F3ED2-7350-4A0B-A129-87A0601DE447}"/>
              </a:ext>
            </a:extLst>
          </p:cNvPr>
          <p:cNvSpPr>
            <a:spLocks noGrp="1"/>
          </p:cNvSpPr>
          <p:nvPr/>
        </p:nvSpPr>
        <p:spPr>
          <a:xfrm>
            <a:off x="2781300" y="3505200"/>
            <a:ext cx="561975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E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09594B-11A1-4721-BF59-4AE67B64548B}"/>
              </a:ext>
            </a:extLst>
          </p:cNvPr>
          <p:cNvSpPr>
            <a:spLocks noGrp="1"/>
          </p:cNvSpPr>
          <p:nvPr/>
        </p:nvSpPr>
        <p:spPr>
          <a:xfrm>
            <a:off x="5257800" y="2657474"/>
            <a:ext cx="704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950" b="1">
                <a:solidFill>
                  <a:srgbClr val="F5F4EE"/>
                </a:solidFill>
              </a:defRPr>
            </a:pPr>
            <a:endParaRPr sz="495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520A1-34D3-4FF5-BB40-3E01AA1E4503}"/>
              </a:ext>
            </a:extLst>
          </p:cNvPr>
          <p:cNvSpPr>
            <a:spLocks noGrp="1"/>
          </p:cNvSpPr>
          <p:nvPr/>
        </p:nvSpPr>
        <p:spPr>
          <a:xfrm>
            <a:off x="4038600" y="4229097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F5F4EE"/>
                </a:solidFill>
              </a:defRPr>
            </a:pPr>
            <a:r>
              <a:rPr sz="4500" b="1" dirty="0">
                <a:solidFill>
                  <a:schemeClr val="bg1"/>
                </a:solidFill>
              </a:rPr>
              <a:t>$2</a:t>
            </a:r>
            <a:r>
              <a:rPr lang="en-IE" sz="4500" b="1" dirty="0">
                <a:solidFill>
                  <a:schemeClr val="bg1"/>
                </a:solidFill>
              </a:rPr>
              <a:t>8</a:t>
            </a:r>
            <a:r>
              <a:rPr sz="4500" b="1" dirty="0">
                <a:solidFill>
                  <a:schemeClr val="bg1"/>
                </a:solidFill>
              </a:rPr>
              <a:t>.5B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2470B-6685-4099-9602-B2BE54CB99FD}"/>
              </a:ext>
            </a:extLst>
          </p:cNvPr>
          <p:cNvSpPr>
            <a:spLocks noGrp="1"/>
          </p:cNvSpPr>
          <p:nvPr/>
        </p:nvSpPr>
        <p:spPr>
          <a:xfrm>
            <a:off x="4076700" y="4933947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A9AAA1"/>
                </a:solidFill>
              </a:defRPr>
            </a:pPr>
            <a:r>
              <a:rPr sz="1350" b="0" dirty="0">
                <a:solidFill>
                  <a:schemeClr val="bg1"/>
                </a:solidFill>
              </a:rPr>
              <a:t>estimated remittances received by Nigeria </a:t>
            </a:r>
            <a:r>
              <a:rPr lang="en-IE" sz="1350" dirty="0">
                <a:solidFill>
                  <a:schemeClr val="bg1"/>
                </a:solidFill>
              </a:rPr>
              <a:t>between 2025 and 2026</a:t>
            </a:r>
            <a:endParaRPr sz="1350" b="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F045D-A182-4C83-A21F-BB2E0B782452}"/>
              </a:ext>
            </a:extLst>
          </p:cNvPr>
          <p:cNvSpPr>
            <a:spLocks noGrp="1"/>
          </p:cNvSpPr>
          <p:nvPr/>
        </p:nvSpPr>
        <p:spPr>
          <a:xfrm>
            <a:off x="609600" y="5810248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8FF3D"/>
                </a:solidFill>
              </a:defRPr>
            </a:pPr>
            <a:r>
              <a:rPr lang="en-IE" sz="1500" b="1" dirty="0">
                <a:solidFill>
                  <a:schemeClr val="bg1"/>
                </a:solidFill>
              </a:rPr>
              <a:t>The need isn't new. People have always needed to send money home. What's missing is a payment experience that works for them.</a:t>
            </a:r>
            <a:endParaRPr sz="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90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6075EBF-8556-4561-B5F0-85CBC743E0C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C0D0C"/>
                </a:solidFill>
              </a:defRPr>
            </a:pPr>
            <a:r>
              <a:rPr sz="1200" b="1">
                <a:solidFill>
                  <a:srgbClr val="0C0D0C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EFB5EA-2AAF-4EC7-9988-7FEDBEBF9D36}"/>
              </a:ext>
            </a:extLst>
          </p:cNvPr>
          <p:cNvSpPr>
            <a:spLocks noGrp="1"/>
          </p:cNvSpPr>
          <p:nvPr/>
        </p:nvSpPr>
        <p:spPr>
          <a:xfrm>
            <a:off x="11029950" y="33337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C0D0C"/>
                </a:solidFill>
              </a:defRPr>
            </a:pPr>
            <a:r>
              <a:rPr sz="1200" b="1">
                <a:solidFill>
                  <a:srgbClr val="0C0D0C"/>
                </a:solidFill>
              </a:rPr>
              <a:t>04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1F51A97-C14A-4A32-8973-AB1CAB7AE70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0"/>
          </a:xfrm>
          <a:prstGeom prst="line">
            <a:avLst/>
          </a:prstGeom>
          <a:noFill/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7B302D-AC74-4AD3-8FB1-F61088F18A41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E5A40"/>
                </a:solidFill>
              </a:defRPr>
            </a:pPr>
            <a:r>
              <a:rPr sz="900" b="1">
                <a:solidFill>
                  <a:srgbClr val="1E5A40"/>
                </a:solidFill>
              </a:rPr>
              <a:t>THE GAP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41F0B-1E53-4AD3-BA5D-E8C51010E80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01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0C0D0C"/>
                </a:solidFill>
              </a:defRPr>
            </a:pPr>
            <a:r>
              <a:rPr sz="3450" b="1">
                <a:solidFill>
                  <a:srgbClr val="0C0D0C"/>
                </a:solidFill>
              </a:rPr>
              <a:t>The market already moves money.</a:t>
            </a:r>
          </a:p>
          <a:p>
            <a:pPr algn="l">
              <a:defRPr sz="3450" b="1">
                <a:solidFill>
                  <a:srgbClr val="0C0D0C"/>
                </a:solidFill>
              </a:defRPr>
            </a:pPr>
            <a:r>
              <a:rPr sz="3450" b="1">
                <a:solidFill>
                  <a:srgbClr val="0C0D0C"/>
                </a:solidFill>
              </a:rPr>
              <a:t>It just wasn't built this way.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902338-C16D-4774-A53C-123135D47A97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324100" cy="245745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37A7E-98FD-43E5-A580-BC6975EE6CD3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Traditional</a:t>
            </a:r>
          </a:p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remittance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E9D9AE-0B61-4759-9D12-A27428E7E959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5A40"/>
                </a:solidFill>
              </a:defRPr>
            </a:pPr>
            <a:r>
              <a:rPr lang="en-IE" sz="1050" b="1" dirty="0">
                <a:solidFill>
                  <a:srgbClr val="1E5A40"/>
                </a:solidFill>
              </a:rPr>
              <a:t>What t</a:t>
            </a:r>
            <a:r>
              <a:rPr sz="1050" b="1" dirty="0">
                <a:solidFill>
                  <a:srgbClr val="1E5A40"/>
                </a:solidFill>
              </a:rPr>
              <a:t>hey do well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7D7A12-AF3E-49EE-BDDB-EBDCE8758E3B}"/>
              </a:ext>
            </a:extLst>
          </p:cNvPr>
          <p:cNvSpPr>
            <a:spLocks noGrp="1"/>
          </p:cNvSpPr>
          <p:nvPr/>
        </p:nvSpPr>
        <p:spPr>
          <a:xfrm>
            <a:off x="800100" y="4391025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 dirty="0">
                <a:solidFill>
                  <a:srgbClr val="0C0D0C"/>
                </a:solidFill>
              </a:rPr>
              <a:t>Familiar access</a:t>
            </a:r>
          </a:p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 dirty="0">
                <a:solidFill>
                  <a:srgbClr val="0C0D0C"/>
                </a:solidFill>
              </a:rPr>
              <a:t>+ distribution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68CE8A-A648-45DE-A0B2-6014A214FBB0}"/>
              </a:ext>
            </a:extLst>
          </p:cNvPr>
          <p:cNvSpPr>
            <a:spLocks noGrp="1"/>
          </p:cNvSpPr>
          <p:nvPr/>
        </p:nvSpPr>
        <p:spPr>
          <a:xfrm>
            <a:off x="800100" y="4991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Trusted</a:t>
            </a:r>
          </a:p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by families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8028C7-88FA-422B-AF4D-9D93AABAA24B}"/>
              </a:ext>
            </a:extLst>
          </p:cNvPr>
          <p:cNvSpPr>
            <a:spLocks noGrp="1"/>
          </p:cNvSpPr>
          <p:nvPr/>
        </p:nvSpPr>
        <p:spPr>
          <a:xfrm>
            <a:off x="3333750" y="3105150"/>
            <a:ext cx="2324100" cy="245745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3D650-2DE9-4978-B3AB-4AA7689594E3}"/>
              </a:ext>
            </a:extLst>
          </p:cNvPr>
          <p:cNvSpPr>
            <a:spLocks noGrp="1"/>
          </p:cNvSpPr>
          <p:nvPr/>
        </p:nvSpPr>
        <p:spPr>
          <a:xfrm>
            <a:off x="352425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Digital</a:t>
            </a:r>
          </a:p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remittance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0B016-8C75-413C-A41B-7C7B3B46D495}"/>
              </a:ext>
            </a:extLst>
          </p:cNvPr>
          <p:cNvSpPr>
            <a:spLocks noGrp="1"/>
          </p:cNvSpPr>
          <p:nvPr/>
        </p:nvSpPr>
        <p:spPr>
          <a:xfrm>
            <a:off x="3524250" y="409575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5A40"/>
                </a:solidFill>
              </a:defRPr>
            </a:pPr>
            <a:r>
              <a:rPr lang="en-IE" sz="1050" b="1" dirty="0">
                <a:solidFill>
                  <a:srgbClr val="1E5A40"/>
                </a:solidFill>
              </a:rPr>
              <a:t>What they do well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4D5AA-BF6C-4B47-A80E-FC6C49F3892C}"/>
              </a:ext>
            </a:extLst>
          </p:cNvPr>
          <p:cNvSpPr>
            <a:spLocks noGrp="1"/>
          </p:cNvSpPr>
          <p:nvPr/>
        </p:nvSpPr>
        <p:spPr>
          <a:xfrm>
            <a:off x="3524250" y="4391025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>
                <a:solidFill>
                  <a:srgbClr val="0C0D0C"/>
                </a:solidFill>
              </a:rPr>
              <a:t>Clearer digital</a:t>
            </a:r>
          </a:p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>
                <a:solidFill>
                  <a:srgbClr val="0C0D0C"/>
                </a:solidFill>
              </a:rPr>
              <a:t>experiences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9BCDD-191A-48CD-81C5-3682F6650837}"/>
              </a:ext>
            </a:extLst>
          </p:cNvPr>
          <p:cNvSpPr>
            <a:spLocks noGrp="1"/>
          </p:cNvSpPr>
          <p:nvPr/>
        </p:nvSpPr>
        <p:spPr>
          <a:xfrm>
            <a:off x="3524250" y="4991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Choice of delivery</a:t>
            </a:r>
          </a:p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and tracking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F45795-DD45-4E46-A058-E6912A4AF5F8}"/>
              </a:ext>
            </a:extLst>
          </p:cNvPr>
          <p:cNvSpPr>
            <a:spLocks noGrp="1"/>
          </p:cNvSpPr>
          <p:nvPr/>
        </p:nvSpPr>
        <p:spPr>
          <a:xfrm>
            <a:off x="6057900" y="3105150"/>
            <a:ext cx="2324100" cy="245745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ADFF8-2EAF-45C5-9CEF-6F2AED695499}"/>
              </a:ext>
            </a:extLst>
          </p:cNvPr>
          <p:cNvSpPr>
            <a:spLocks noGrp="1"/>
          </p:cNvSpPr>
          <p:nvPr/>
        </p:nvSpPr>
        <p:spPr>
          <a:xfrm>
            <a:off x="624840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Stablecoin</a:t>
            </a:r>
          </a:p>
          <a:p>
            <a:pPr algn="ctr">
              <a:defRPr sz="1650" b="1">
                <a:solidFill>
                  <a:srgbClr val="0C0D0C"/>
                </a:solidFill>
              </a:defRPr>
            </a:pPr>
            <a:r>
              <a:rPr sz="1650" b="1">
                <a:solidFill>
                  <a:srgbClr val="0C0D0C"/>
                </a:solidFill>
              </a:rPr>
              <a:t>products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FF7494-3AB9-4293-9FD3-9EB282665AAE}"/>
              </a:ext>
            </a:extLst>
          </p:cNvPr>
          <p:cNvSpPr>
            <a:spLocks noGrp="1"/>
          </p:cNvSpPr>
          <p:nvPr/>
        </p:nvSpPr>
        <p:spPr>
          <a:xfrm>
            <a:off x="6248400" y="409575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5A40"/>
                </a:solidFill>
              </a:defRPr>
            </a:pPr>
            <a:r>
              <a:rPr lang="en-IE" sz="1050" b="1" dirty="0">
                <a:solidFill>
                  <a:srgbClr val="1E5A40"/>
                </a:solidFill>
              </a:rPr>
              <a:t>What they do well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A51A55-559B-4847-A00E-6FF5C38F44BF}"/>
              </a:ext>
            </a:extLst>
          </p:cNvPr>
          <p:cNvSpPr>
            <a:spLocks noGrp="1"/>
          </p:cNvSpPr>
          <p:nvPr/>
        </p:nvSpPr>
        <p:spPr>
          <a:xfrm>
            <a:off x="6248400" y="4391025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>
                <a:solidFill>
                  <a:srgbClr val="0C0D0C"/>
                </a:solidFill>
              </a:rPr>
              <a:t>Efficient settlement</a:t>
            </a:r>
          </a:p>
          <a:p>
            <a:pPr algn="ctr">
              <a:defRPr sz="1275" b="0">
                <a:solidFill>
                  <a:srgbClr val="0C0D0C"/>
                </a:solidFill>
              </a:defRPr>
            </a:pPr>
            <a:r>
              <a:rPr sz="1275" b="0">
                <a:solidFill>
                  <a:srgbClr val="0C0D0C"/>
                </a:solidFill>
              </a:rPr>
              <a:t>+ liquidity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AB9337-A86F-4B6F-B7EA-B3E0F7CD619A}"/>
              </a:ext>
            </a:extLst>
          </p:cNvPr>
          <p:cNvSpPr>
            <a:spLocks noGrp="1"/>
          </p:cNvSpPr>
          <p:nvPr/>
        </p:nvSpPr>
        <p:spPr>
          <a:xfrm>
            <a:off x="6248400" y="4991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Modern financial</a:t>
            </a:r>
          </a:p>
          <a:p>
            <a:pPr algn="ctr">
              <a:defRPr sz="1200" b="1">
                <a:solidFill>
                  <a:srgbClr val="A9AAA1"/>
                </a:solidFill>
              </a:defRPr>
            </a:pPr>
            <a:r>
              <a:rPr sz="1200" b="1">
                <a:solidFill>
                  <a:srgbClr val="A9AAA1"/>
                </a:solidFill>
              </a:rPr>
              <a:t>infrastructure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6E1AAF0-14E6-48B4-8EC9-2672041D416E}"/>
              </a:ext>
            </a:extLst>
          </p:cNvPr>
          <p:cNvSpPr>
            <a:spLocks noGrp="1"/>
          </p:cNvSpPr>
          <p:nvPr/>
        </p:nvSpPr>
        <p:spPr>
          <a:xfrm>
            <a:off x="8782050" y="3105150"/>
            <a:ext cx="2324100" cy="2457450"/>
          </a:xfrm>
          <a:prstGeom prst="roundRect">
            <a:avLst>
              <a:gd name="adj" fmla="val 7377"/>
            </a:avLst>
          </a:prstGeom>
          <a:solidFill>
            <a:srgbClr val="0C0D0C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942AF3-0CDE-4040-B472-31981EFD50BE}"/>
              </a:ext>
            </a:extLst>
          </p:cNvPr>
          <p:cNvSpPr>
            <a:spLocks noGrp="1"/>
          </p:cNvSpPr>
          <p:nvPr/>
        </p:nvSpPr>
        <p:spPr>
          <a:xfrm>
            <a:off x="8972550" y="3371850"/>
            <a:ext cx="1943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C8FF3D"/>
                </a:solidFill>
              </a:defRPr>
            </a:pPr>
            <a:r>
              <a:rPr sz="1650" b="1">
                <a:solidFill>
                  <a:srgbClr val="C8FF3D"/>
                </a:solidFill>
              </a:rPr>
              <a:t>KOBO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F21A6A-5124-4F2B-9F2B-AE40446E7A5B}"/>
              </a:ext>
            </a:extLst>
          </p:cNvPr>
          <p:cNvSpPr>
            <a:spLocks noGrp="1"/>
          </p:cNvSpPr>
          <p:nvPr/>
        </p:nvSpPr>
        <p:spPr>
          <a:xfrm>
            <a:off x="8972550" y="409575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5A40"/>
                </a:solidFill>
              </a:defRPr>
            </a:pPr>
            <a:r>
              <a:rPr lang="en-IE" sz="1050" b="1" dirty="0">
                <a:solidFill>
                  <a:srgbClr val="9EB958"/>
                </a:solidFill>
              </a:rPr>
              <a:t>What we do well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FC053-7105-4401-A8B5-099A7A52EA01}"/>
              </a:ext>
            </a:extLst>
          </p:cNvPr>
          <p:cNvSpPr>
            <a:spLocks noGrp="1"/>
          </p:cNvSpPr>
          <p:nvPr/>
        </p:nvSpPr>
        <p:spPr>
          <a:xfrm>
            <a:off x="8972550" y="4391025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F5F4EE"/>
                </a:solidFill>
              </a:defRPr>
            </a:pPr>
            <a:r>
              <a:rPr sz="1275" b="0" dirty="0">
                <a:solidFill>
                  <a:srgbClr val="F5F4EE"/>
                </a:solidFill>
              </a:rPr>
              <a:t>Simple payment</a:t>
            </a:r>
          </a:p>
          <a:p>
            <a:pPr algn="ctr">
              <a:defRPr sz="1275" b="0">
                <a:solidFill>
                  <a:srgbClr val="F5F4EE"/>
                </a:solidFill>
              </a:defRPr>
            </a:pPr>
            <a:r>
              <a:rPr sz="1275" b="0" dirty="0">
                <a:solidFill>
                  <a:srgbClr val="F5F4EE"/>
                </a:solidFill>
              </a:rPr>
              <a:t>experience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712958-C78A-4046-9215-174A198D73B8}"/>
              </a:ext>
            </a:extLst>
          </p:cNvPr>
          <p:cNvSpPr>
            <a:spLocks noGrp="1"/>
          </p:cNvSpPr>
          <p:nvPr/>
        </p:nvSpPr>
        <p:spPr>
          <a:xfrm>
            <a:off x="8972550" y="4991100"/>
            <a:ext cx="1943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8FF3D"/>
                </a:solidFill>
              </a:defRPr>
            </a:pPr>
            <a:r>
              <a:rPr sz="1200" b="1" dirty="0">
                <a:solidFill>
                  <a:srgbClr val="9EB958"/>
                </a:solidFill>
              </a:rPr>
              <a:t>Hide the rail.</a:t>
            </a:r>
          </a:p>
          <a:p>
            <a:pPr algn="ctr">
              <a:defRPr sz="1200" b="1">
                <a:solidFill>
                  <a:srgbClr val="C8FF3D"/>
                </a:solidFill>
              </a:defRPr>
            </a:pPr>
            <a:r>
              <a:rPr sz="1200" b="1" dirty="0">
                <a:solidFill>
                  <a:srgbClr val="9EB958"/>
                </a:solidFill>
              </a:rPr>
              <a:t>Show the certainty.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6FF0CD-0480-4BC9-9131-D495E64210D5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E5A40"/>
                </a:solidFill>
              </a:defRPr>
            </a:pPr>
            <a:r>
              <a:rPr lang="en-IE" sz="1275" b="1" dirty="0">
                <a:solidFill>
                  <a:srgbClr val="1E5A40"/>
                </a:solidFill>
              </a:rPr>
              <a:t>Existing players did not fail,</a:t>
            </a:r>
            <a:r>
              <a:rPr sz="1275" b="1" dirty="0">
                <a:solidFill>
                  <a:srgbClr val="1E5A40"/>
                </a:solidFill>
              </a:rPr>
              <a:t> </a:t>
            </a:r>
            <a:r>
              <a:rPr lang="en-IE" sz="1275" b="1" dirty="0">
                <a:solidFill>
                  <a:srgbClr val="1E5A40"/>
                </a:solidFill>
              </a:rPr>
              <a:t>t</a:t>
            </a:r>
            <a:r>
              <a:rPr sz="1275" b="1" dirty="0">
                <a:solidFill>
                  <a:srgbClr val="1E5A40"/>
                </a:solidFill>
              </a:rPr>
              <a:t>hey solved parts of the journey. Kobo is designed to connect them</a:t>
            </a:r>
            <a:r>
              <a:rPr lang="en-IE" sz="1275" b="1" dirty="0">
                <a:solidFill>
                  <a:srgbClr val="1E5A40"/>
                </a:solidFill>
              </a:rPr>
              <a:t> together</a:t>
            </a:r>
            <a:r>
              <a:rPr sz="1275" b="1" dirty="0">
                <a:solidFill>
                  <a:srgbClr val="1E5A4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49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BFCA463-9D6D-4EC4-BA81-7516FBB9430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C0D0C"/>
                </a:solidFill>
              </a:defRPr>
            </a:pPr>
            <a:r>
              <a:rPr sz="1200" b="1">
                <a:solidFill>
                  <a:srgbClr val="0C0D0C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414904-A199-4EDF-95AF-87CDD69BE94A}"/>
              </a:ext>
            </a:extLst>
          </p:cNvPr>
          <p:cNvSpPr>
            <a:spLocks noGrp="1"/>
          </p:cNvSpPr>
          <p:nvPr/>
        </p:nvSpPr>
        <p:spPr>
          <a:xfrm>
            <a:off x="11029950" y="33337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0C0D0C"/>
                </a:solidFill>
              </a:defRPr>
            </a:pPr>
            <a:r>
              <a:rPr sz="1200" b="1">
                <a:solidFill>
                  <a:srgbClr val="0C0D0C"/>
                </a:solidFill>
              </a:rPr>
              <a:t>06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B1B5ACC-BF75-4925-9663-B3289CB291D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0"/>
          </a:xfrm>
          <a:prstGeom prst="line">
            <a:avLst/>
          </a:prstGeom>
          <a:noFill/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36543B-1234-4273-9557-9C4FF301201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E5A40"/>
                </a:solidFill>
              </a:defRPr>
            </a:pPr>
            <a:r>
              <a:rPr lang="en-IE" sz="900" b="1" dirty="0">
                <a:solidFill>
                  <a:srgbClr val="1E5A40"/>
                </a:solidFill>
              </a:rPr>
              <a:t>Meet Kobo</a:t>
            </a:r>
            <a:endParaRPr sz="900" b="1" dirty="0">
              <a:solidFill>
                <a:srgbClr val="1E5A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F2F694-16D1-4AD6-91DD-C35E4473436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0012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C0D0C"/>
                </a:solidFill>
              </a:defRPr>
            </a:pPr>
            <a:r>
              <a:rPr sz="3300" b="1" dirty="0">
                <a:solidFill>
                  <a:srgbClr val="0C0D0C"/>
                </a:solidFill>
              </a:rPr>
              <a:t>I don't want to think about wallets.</a:t>
            </a:r>
          </a:p>
          <a:p>
            <a:pPr algn="l">
              <a:defRPr sz="3300" b="1">
                <a:solidFill>
                  <a:srgbClr val="0C0D0C"/>
                </a:solidFill>
              </a:defRPr>
            </a:pPr>
            <a:r>
              <a:rPr sz="3300" b="1" dirty="0">
                <a:solidFill>
                  <a:srgbClr val="0C0D0C"/>
                </a:solidFill>
              </a:rPr>
              <a:t>I just want to send money.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3BC31EC-E9CB-4EC0-B934-0E66C91FDDA2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15265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58CF7C-3343-441A-801A-ACFAF61C3A8B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5A40"/>
                </a:solidFill>
              </a:defRPr>
            </a:pPr>
            <a:r>
              <a:rPr sz="1125" b="1">
                <a:solidFill>
                  <a:srgbClr val="1E5A40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B2BFD-B722-4727-A9E9-0905A0B6AAAC}"/>
              </a:ext>
            </a:extLst>
          </p:cNvPr>
          <p:cNvSpPr>
            <a:spLocks noGrp="1"/>
          </p:cNvSpPr>
          <p:nvPr/>
        </p:nvSpPr>
        <p:spPr>
          <a:xfrm>
            <a:off x="800100" y="3952875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Choose</a:t>
            </a:r>
          </a:p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a person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B2EE7-B920-4B18-9586-527FA40D9DA2}"/>
              </a:ext>
            </a:extLst>
          </p:cNvPr>
          <p:cNvSpPr>
            <a:spLocks noGrp="1"/>
          </p:cNvSpPr>
          <p:nvPr/>
        </p:nvSpPr>
        <p:spPr>
          <a:xfrm>
            <a:off x="2790825" y="38481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E5A40"/>
                </a:solidFill>
              </a:defRPr>
            </a:pPr>
            <a:r>
              <a:rPr sz="2100" b="1">
                <a:solidFill>
                  <a:srgbClr val="1E5A40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91FD37-F2B4-4FD9-BB96-68DF09758E1F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215265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068671-055E-4674-AD7F-37CD4495C414}"/>
              </a:ext>
            </a:extLst>
          </p:cNvPr>
          <p:cNvSpPr>
            <a:spLocks noGrp="1"/>
          </p:cNvSpPr>
          <p:nvPr/>
        </p:nvSpPr>
        <p:spPr>
          <a:xfrm>
            <a:off x="3333750" y="3562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5A40"/>
                </a:solidFill>
              </a:defRPr>
            </a:pPr>
            <a:r>
              <a:rPr sz="1125" b="1">
                <a:solidFill>
                  <a:srgbClr val="1E5A40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7FF94-606E-429D-BCD9-88EC05278075}"/>
              </a:ext>
            </a:extLst>
          </p:cNvPr>
          <p:cNvSpPr>
            <a:spLocks noGrp="1"/>
          </p:cNvSpPr>
          <p:nvPr/>
        </p:nvSpPr>
        <p:spPr>
          <a:xfrm>
            <a:off x="3333750" y="3952875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Enter</a:t>
            </a:r>
          </a:p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the amount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252886-CC41-4D19-873C-72F47F55AC06}"/>
              </a:ext>
            </a:extLst>
          </p:cNvPr>
          <p:cNvSpPr>
            <a:spLocks noGrp="1"/>
          </p:cNvSpPr>
          <p:nvPr/>
        </p:nvSpPr>
        <p:spPr>
          <a:xfrm>
            <a:off x="5324475" y="38481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E5A40"/>
                </a:solidFill>
              </a:defRPr>
            </a:pPr>
            <a:r>
              <a:rPr sz="2100" b="1">
                <a:solidFill>
                  <a:srgbClr val="1E5A40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ABDFE8-B04E-40D4-8912-C3BB010417B5}"/>
              </a:ext>
            </a:extLst>
          </p:cNvPr>
          <p:cNvSpPr>
            <a:spLocks noGrp="1"/>
          </p:cNvSpPr>
          <p:nvPr/>
        </p:nvSpPr>
        <p:spPr>
          <a:xfrm>
            <a:off x="5676900" y="3333750"/>
            <a:ext cx="2152650" cy="1466850"/>
          </a:xfrm>
          <a:prstGeom prst="roundRect">
            <a:avLst>
              <a:gd name="adj" fmla="val 11688"/>
            </a:avLst>
          </a:prstGeom>
          <a:solidFill>
            <a:srgbClr val="FFFFFF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9E4043-B129-4135-BE43-72F70230E7F1}"/>
              </a:ext>
            </a:extLst>
          </p:cNvPr>
          <p:cNvSpPr>
            <a:spLocks noGrp="1"/>
          </p:cNvSpPr>
          <p:nvPr/>
        </p:nvSpPr>
        <p:spPr>
          <a:xfrm>
            <a:off x="5867400" y="3562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E5A40"/>
                </a:solidFill>
              </a:defRPr>
            </a:pPr>
            <a:r>
              <a:rPr sz="1125" b="1">
                <a:solidFill>
                  <a:srgbClr val="1E5A40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D93C6-7145-4240-A726-AC8E4ED05E60}"/>
              </a:ext>
            </a:extLst>
          </p:cNvPr>
          <p:cNvSpPr>
            <a:spLocks noGrp="1"/>
          </p:cNvSpPr>
          <p:nvPr/>
        </p:nvSpPr>
        <p:spPr>
          <a:xfrm>
            <a:off x="5867400" y="3952875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See exactly</a:t>
            </a:r>
          </a:p>
          <a:p>
            <a:pPr algn="l">
              <a:defRPr sz="1875" b="1">
                <a:solidFill>
                  <a:srgbClr val="0C0D0C"/>
                </a:solidFill>
              </a:defRPr>
            </a:pPr>
            <a:r>
              <a:rPr sz="1875" b="1">
                <a:solidFill>
                  <a:srgbClr val="0C0D0C"/>
                </a:solidFill>
              </a:rPr>
              <a:t>what lands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982B00-7F26-4A59-A32C-8ECF308E5ED5}"/>
              </a:ext>
            </a:extLst>
          </p:cNvPr>
          <p:cNvSpPr>
            <a:spLocks noGrp="1"/>
          </p:cNvSpPr>
          <p:nvPr/>
        </p:nvSpPr>
        <p:spPr>
          <a:xfrm>
            <a:off x="7858125" y="3848100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E5A40"/>
                </a:solidFill>
              </a:defRPr>
            </a:pPr>
            <a:r>
              <a:rPr sz="2100" b="1">
                <a:solidFill>
                  <a:srgbClr val="1E5A40"/>
                </a:solidFill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CA0DEB-237B-4E41-AE74-7D91CC247BC3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2152650" cy="1466850"/>
          </a:xfrm>
          <a:prstGeom prst="roundRect">
            <a:avLst>
              <a:gd name="adj" fmla="val 11688"/>
            </a:avLst>
          </a:prstGeom>
          <a:solidFill>
            <a:srgbClr val="0C0D0C"/>
          </a:solidFill>
          <a:ln w="9525">
            <a:solidFill>
              <a:srgbClr val="D9D9D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D650E2-C946-49BD-BC04-5F7DC70A6AC4}"/>
              </a:ext>
            </a:extLst>
          </p:cNvPr>
          <p:cNvSpPr>
            <a:spLocks noGrp="1"/>
          </p:cNvSpPr>
          <p:nvPr/>
        </p:nvSpPr>
        <p:spPr>
          <a:xfrm>
            <a:off x="8401050" y="35623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8FF3D"/>
                </a:solidFill>
              </a:defRPr>
            </a:pPr>
            <a:r>
              <a:rPr sz="1125" b="1">
                <a:solidFill>
                  <a:srgbClr val="C8FF3D"/>
                </a:solidFill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AD7F34-957C-4195-892A-A9DDEF5F8CCC}"/>
              </a:ext>
            </a:extLst>
          </p:cNvPr>
          <p:cNvSpPr>
            <a:spLocks noGrp="1"/>
          </p:cNvSpPr>
          <p:nvPr/>
        </p:nvSpPr>
        <p:spPr>
          <a:xfrm>
            <a:off x="8401050" y="3952875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5F4EE"/>
                </a:solidFill>
              </a:defRPr>
            </a:pPr>
            <a:r>
              <a:rPr sz="1875" b="1">
                <a:solidFill>
                  <a:srgbClr val="F5F4EE"/>
                </a:solidFill>
              </a:rPr>
              <a:t>Review</a:t>
            </a:r>
          </a:p>
          <a:p>
            <a:pPr algn="l">
              <a:defRPr sz="1875" b="1">
                <a:solidFill>
                  <a:srgbClr val="F5F4EE"/>
                </a:solidFill>
              </a:defRPr>
            </a:pPr>
            <a:r>
              <a:rPr sz="1875" b="1">
                <a:solidFill>
                  <a:srgbClr val="F5F4EE"/>
                </a:solidFill>
              </a:rPr>
              <a:t>and send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2A974-B8AE-38A1-F8E9-C096EB36056A}"/>
              </a:ext>
            </a:extLst>
          </p:cNvPr>
          <p:cNvSpPr txBox="1"/>
          <p:nvPr/>
        </p:nvSpPr>
        <p:spPr>
          <a:xfrm>
            <a:off x="536408" y="5629275"/>
            <a:ext cx="60939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FF3D"/>
                </a:solidFill>
              </a:defRPr>
            </a:pPr>
            <a:r>
              <a:rPr lang="en-IE" sz="1500" b="1" dirty="0">
                <a:solidFill>
                  <a:schemeClr val="bg1"/>
                </a:solidFill>
              </a:rPr>
              <a:t>One simple payment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25570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6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1FD2A16-BD38-4CB6-AB82-78A71937692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5F4EE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76B91-D3DB-4AFD-88D3-5E5CE07B4748}"/>
              </a:ext>
            </a:extLst>
          </p:cNvPr>
          <p:cNvSpPr>
            <a:spLocks noGrp="1"/>
          </p:cNvSpPr>
          <p:nvPr/>
        </p:nvSpPr>
        <p:spPr>
          <a:xfrm>
            <a:off x="11029950" y="333375"/>
            <a:ext cx="552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F5F4EE"/>
                </a:solidFill>
              </a:defRPr>
            </a:pPr>
            <a:r>
              <a:rPr sz="1200" b="1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FB7959F-BC56-4B9E-AEA2-12F9245A396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972800" cy="0"/>
          </a:xfrm>
          <a:prstGeom prst="line">
            <a:avLst/>
          </a:prstGeom>
          <a:noFill/>
          <a:ln w="9525">
            <a:solidFill>
              <a:srgbClr val="3B3C38"/>
            </a:solidFill>
            <a:prstDash val="solid"/>
          </a:ln>
        </p:spPr>
        <p:txBody>
          <a:bodyPr/>
          <a:lstStyle/>
          <a:p>
            <a:endParaRPr lang="en-IE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F533C-6E5D-4D5C-94CE-C2FFBD42919C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8FF3D"/>
                </a:solidFill>
              </a:defRPr>
            </a:pPr>
            <a:r>
              <a:rPr sz="900" b="1">
                <a:solidFill>
                  <a:schemeClr val="bg1"/>
                </a:solidFill>
              </a:rPr>
              <a:t>WHAT IS UNDERNEATH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A9B38-73E2-4A9B-8A10-B44F96AA125D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731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5F4EE"/>
                </a:solidFill>
              </a:defRPr>
            </a:pPr>
            <a:r>
              <a:rPr sz="3750" b="1" dirty="0">
                <a:solidFill>
                  <a:schemeClr val="bg1"/>
                </a:solidFill>
              </a:rPr>
              <a:t>The rails should disappear.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4B311B-559B-4A73-A598-23959DFAA7B6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019300" cy="666750"/>
          </a:xfrm>
          <a:prstGeom prst="roundRect">
            <a:avLst>
              <a:gd name="adj" fmla="val 22857"/>
            </a:avLst>
          </a:prstGeom>
          <a:solidFill>
            <a:srgbClr val="232421"/>
          </a:solidFill>
          <a:ln w="9525">
            <a:solidFill>
              <a:srgbClr val="51534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0187CB-7383-4100-9BF8-9A70F5EAAC0B}"/>
              </a:ext>
            </a:extLst>
          </p:cNvPr>
          <p:cNvSpPr>
            <a:spLocks noGrp="1"/>
          </p:cNvSpPr>
          <p:nvPr/>
        </p:nvSpPr>
        <p:spPr>
          <a:xfrm>
            <a:off x="752475" y="25717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4EE"/>
                </a:solidFill>
              </a:defRPr>
            </a:pPr>
            <a:r>
              <a:rPr sz="1350" b="1">
                <a:solidFill>
                  <a:srgbClr val="F5F4EE"/>
                </a:solidFill>
              </a:rPr>
              <a:t>PERSON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4841F2-4C4A-414A-BB91-644C04D5D730}"/>
              </a:ext>
            </a:extLst>
          </p:cNvPr>
          <p:cNvSpPr>
            <a:spLocks noGrp="1"/>
          </p:cNvSpPr>
          <p:nvPr/>
        </p:nvSpPr>
        <p:spPr>
          <a:xfrm>
            <a:off x="2686050" y="25431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8FF3D"/>
                </a:solidFill>
              </a:defRPr>
            </a:pPr>
            <a:r>
              <a:rPr sz="2250" b="1">
                <a:solidFill>
                  <a:srgbClr val="C8FF3D"/>
                </a:solidFill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7B6E06-BB53-43F3-8F50-794F601C0553}"/>
              </a:ext>
            </a:extLst>
          </p:cNvPr>
          <p:cNvSpPr>
            <a:spLocks noGrp="1"/>
          </p:cNvSpPr>
          <p:nvPr/>
        </p:nvSpPr>
        <p:spPr>
          <a:xfrm>
            <a:off x="3295650" y="2362200"/>
            <a:ext cx="2019300" cy="666750"/>
          </a:xfrm>
          <a:prstGeom prst="roundRect">
            <a:avLst>
              <a:gd name="adj" fmla="val 22857"/>
            </a:avLst>
          </a:prstGeom>
          <a:solidFill>
            <a:srgbClr val="232421"/>
          </a:solidFill>
          <a:ln w="9525">
            <a:solidFill>
              <a:srgbClr val="51534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79B7B8-C44B-4239-B2C4-7AB4FDDC981A}"/>
              </a:ext>
            </a:extLst>
          </p:cNvPr>
          <p:cNvSpPr>
            <a:spLocks noGrp="1"/>
          </p:cNvSpPr>
          <p:nvPr/>
        </p:nvSpPr>
        <p:spPr>
          <a:xfrm>
            <a:off x="3438525" y="25717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4EE"/>
                </a:solidFill>
              </a:defRPr>
            </a:pPr>
            <a:r>
              <a:rPr sz="1350" b="1">
                <a:solidFill>
                  <a:srgbClr val="F5F4EE"/>
                </a:solidFill>
              </a:rPr>
              <a:t>KOBO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0FB0B7-2313-4314-BD63-8402068B844C}"/>
              </a:ext>
            </a:extLst>
          </p:cNvPr>
          <p:cNvSpPr>
            <a:spLocks noGrp="1"/>
          </p:cNvSpPr>
          <p:nvPr/>
        </p:nvSpPr>
        <p:spPr>
          <a:xfrm>
            <a:off x="5372100" y="25431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8FF3D"/>
                </a:solidFill>
              </a:defRPr>
            </a:pPr>
            <a:r>
              <a:rPr sz="2250" b="1">
                <a:solidFill>
                  <a:srgbClr val="C8FF3D"/>
                </a:solidFill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7A2AF9-8446-4049-B375-3F188B8EA3B6}"/>
              </a:ext>
            </a:extLst>
          </p:cNvPr>
          <p:cNvSpPr>
            <a:spLocks noGrp="1"/>
          </p:cNvSpPr>
          <p:nvPr/>
        </p:nvSpPr>
        <p:spPr>
          <a:xfrm>
            <a:off x="5981700" y="2362200"/>
            <a:ext cx="2019300" cy="666750"/>
          </a:xfrm>
          <a:prstGeom prst="roundRect">
            <a:avLst>
              <a:gd name="adj" fmla="val 22857"/>
            </a:avLst>
          </a:prstGeom>
          <a:solidFill>
            <a:srgbClr val="232421"/>
          </a:solidFill>
          <a:ln w="9525">
            <a:solidFill>
              <a:srgbClr val="51534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17A0D-D791-4281-BA3D-25D1F4367B76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4EE"/>
                </a:solidFill>
              </a:defRPr>
            </a:pPr>
            <a:r>
              <a:rPr sz="1350" b="1">
                <a:solidFill>
                  <a:srgbClr val="F5F4EE"/>
                </a:solidFill>
              </a:rPr>
              <a:t>USDC ON SOLANA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CC794A-36A4-426C-BAF8-164C2521E565}"/>
              </a:ext>
            </a:extLst>
          </p:cNvPr>
          <p:cNvSpPr>
            <a:spLocks noGrp="1"/>
          </p:cNvSpPr>
          <p:nvPr/>
        </p:nvSpPr>
        <p:spPr>
          <a:xfrm>
            <a:off x="8058150" y="254317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C8FF3D"/>
                </a:solidFill>
              </a:defRPr>
            </a:pPr>
            <a:r>
              <a:rPr sz="2250" b="1">
                <a:solidFill>
                  <a:srgbClr val="C8FF3D"/>
                </a:solidFill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DD935F-5CD8-4D90-AEAE-F1C154711B6A}"/>
              </a:ext>
            </a:extLst>
          </p:cNvPr>
          <p:cNvSpPr>
            <a:spLocks noGrp="1"/>
          </p:cNvSpPr>
          <p:nvPr/>
        </p:nvSpPr>
        <p:spPr>
          <a:xfrm>
            <a:off x="8667750" y="2362200"/>
            <a:ext cx="2019300" cy="666750"/>
          </a:xfrm>
          <a:prstGeom prst="roundRect">
            <a:avLst>
              <a:gd name="adj" fmla="val 22857"/>
            </a:avLst>
          </a:prstGeom>
          <a:solidFill>
            <a:srgbClr val="232421"/>
          </a:solidFill>
          <a:ln w="9525">
            <a:solidFill>
              <a:srgbClr val="51534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5EC166-394D-4158-BAD0-B03B62088410}"/>
              </a:ext>
            </a:extLst>
          </p:cNvPr>
          <p:cNvSpPr>
            <a:spLocks noGrp="1"/>
          </p:cNvSpPr>
          <p:nvPr/>
        </p:nvSpPr>
        <p:spPr>
          <a:xfrm>
            <a:off x="8810625" y="25717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5F4EE"/>
                </a:solidFill>
              </a:defRPr>
            </a:pPr>
            <a:r>
              <a:rPr sz="1350" b="1">
                <a:solidFill>
                  <a:srgbClr val="F5F4EE"/>
                </a:solidFill>
              </a:rPr>
              <a:t>FAMILY WALLET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1389FE-F4E8-43C3-9820-8706A32E46F0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8FF3D"/>
                </a:solidFill>
              </a:defRPr>
            </a:pPr>
            <a:r>
              <a:rPr sz="1425" b="1">
                <a:solidFill>
                  <a:schemeClr val="bg1"/>
                </a:solidFill>
              </a:rPr>
              <a:t>Built today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2F16BA-E455-4D60-83A7-419867872F7F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9848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5F4EE"/>
                </a:solidFill>
              </a:defRPr>
            </a:pPr>
            <a:r>
              <a:rPr lang="en-IE" sz="1500" b="0" dirty="0">
                <a:solidFill>
                  <a:schemeClr val="bg1"/>
                </a:solidFill>
              </a:rPr>
              <a:t>- </a:t>
            </a:r>
            <a:r>
              <a:rPr sz="1500" b="0" dirty="0">
                <a:solidFill>
                  <a:schemeClr val="bg1"/>
                </a:solidFill>
              </a:rPr>
              <a:t>Account + PIN auth</a:t>
            </a:r>
            <a:r>
              <a:rPr lang="en-IE" sz="1500" dirty="0">
                <a:solidFill>
                  <a:schemeClr val="bg1"/>
                </a:solidFill>
              </a:rPr>
              <a:t>	- </a:t>
            </a:r>
            <a:r>
              <a:rPr sz="1500" b="0" dirty="0">
                <a:solidFill>
                  <a:schemeClr val="bg1"/>
                </a:solidFill>
              </a:rPr>
              <a:t>Recipient flow</a:t>
            </a:r>
            <a:r>
              <a:rPr lang="en-IE" sz="1500" b="0" dirty="0">
                <a:solidFill>
                  <a:schemeClr val="bg1"/>
                </a:solidFill>
              </a:rPr>
              <a:t>	- </a:t>
            </a:r>
            <a:r>
              <a:rPr sz="1500" b="0" dirty="0">
                <a:solidFill>
                  <a:schemeClr val="bg1"/>
                </a:solidFill>
              </a:rPr>
              <a:t>Transfer lifecycle</a:t>
            </a:r>
          </a:p>
          <a:p>
            <a:pPr algn="l">
              <a:defRPr sz="1500" b="0">
                <a:solidFill>
                  <a:srgbClr val="F5F4EE"/>
                </a:solidFill>
              </a:defRPr>
            </a:pPr>
            <a:r>
              <a:rPr lang="en-IE" sz="1500" dirty="0">
                <a:solidFill>
                  <a:schemeClr val="bg1"/>
                </a:solidFill>
              </a:rPr>
              <a:t>- </a:t>
            </a:r>
            <a:r>
              <a:rPr sz="1500" dirty="0">
                <a:solidFill>
                  <a:schemeClr val="bg1"/>
                </a:solidFill>
              </a:rPr>
              <a:t>Balance handling</a:t>
            </a:r>
            <a:r>
              <a:rPr lang="en-IE" sz="1500" dirty="0">
                <a:solidFill>
                  <a:schemeClr val="bg1"/>
                </a:solidFill>
              </a:rPr>
              <a:t>		- </a:t>
            </a:r>
            <a:r>
              <a:rPr sz="1500" dirty="0">
                <a:solidFill>
                  <a:schemeClr val="bg1"/>
                </a:solidFill>
              </a:rPr>
              <a:t>Solana </a:t>
            </a:r>
            <a:r>
              <a:rPr lang="en-IE" sz="1500" dirty="0">
                <a:solidFill>
                  <a:schemeClr val="bg1"/>
                </a:solidFill>
              </a:rPr>
              <a:t>D</a:t>
            </a:r>
            <a:r>
              <a:rPr sz="1500" dirty="0" err="1">
                <a:solidFill>
                  <a:schemeClr val="bg1"/>
                </a:solidFill>
              </a:rPr>
              <a:t>evnet</a:t>
            </a:r>
            <a:r>
              <a:rPr lang="en-IE" sz="1500" dirty="0">
                <a:solidFill>
                  <a:schemeClr val="bg1"/>
                </a:solidFill>
              </a:rPr>
              <a:t>	- </a:t>
            </a:r>
            <a:r>
              <a:rPr sz="1500" dirty="0">
                <a:solidFill>
                  <a:schemeClr val="bg1"/>
                </a:solidFill>
              </a:rPr>
              <a:t>On-ramp/webhook handling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4BD091-9D13-7966-66C1-4A8915733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19" y="5626011"/>
            <a:ext cx="3176081" cy="54628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53A95CB-2693-B97E-E3D1-A459DCA93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025" y="5266880"/>
            <a:ext cx="1676901" cy="126454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0B27FA2-9AB9-D3BF-EFF2-C359FB434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9357" y="5171745"/>
            <a:ext cx="1454818" cy="145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C6580C-3AC9-4FB5-A79A-B4122CD8826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C0D0C"/>
                </a:solidFill>
              </a:defRPr>
            </a:pPr>
            <a:r>
              <a:rPr sz="1200" b="1">
                <a:solidFill>
                  <a:srgbClr val="0C0D0C"/>
                </a:solidFill>
              </a:rPr>
              <a:t>KOBO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66D34E-7E85-4E26-AFAF-5B78C97D3863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7905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C0D0C"/>
                </a:solidFill>
              </a:defRPr>
            </a:pPr>
            <a:r>
              <a:rPr sz="4050" b="1">
                <a:solidFill>
                  <a:srgbClr val="0C0D0C"/>
                </a:solidFill>
              </a:rPr>
              <a:t>We're building the payment</a:t>
            </a:r>
          </a:p>
          <a:p>
            <a:pPr algn="l">
              <a:defRPr sz="4050" b="1">
                <a:solidFill>
                  <a:srgbClr val="0C0D0C"/>
                </a:solidFill>
              </a:defRPr>
            </a:pPr>
            <a:r>
              <a:rPr sz="4050" b="1">
                <a:solidFill>
                  <a:srgbClr val="0C0D0C"/>
                </a:solidFill>
              </a:rPr>
              <a:t>experience our families deserve.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2899A-9F43-4E7E-AB6A-DBA4E3F10176}"/>
              </a:ext>
            </a:extLst>
          </p:cNvPr>
          <p:cNvSpPr>
            <a:spLocks noGrp="1"/>
          </p:cNvSpPr>
          <p:nvPr/>
        </p:nvSpPr>
        <p:spPr>
          <a:xfrm>
            <a:off x="647700" y="3600450"/>
            <a:ext cx="7448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E5A40"/>
                </a:solidFill>
              </a:defRPr>
            </a:pPr>
            <a:r>
              <a:rPr sz="1725" b="0" dirty="0">
                <a:solidFill>
                  <a:srgbClr val="1E5A40"/>
                </a:solidFill>
              </a:rPr>
              <a:t>We don't need everyone to understand crypto.</a:t>
            </a:r>
          </a:p>
          <a:p>
            <a:pPr algn="l">
              <a:defRPr sz="1725" b="0">
                <a:solidFill>
                  <a:srgbClr val="1E5A40"/>
                </a:solidFill>
              </a:defRPr>
            </a:pPr>
            <a:r>
              <a:rPr sz="1725" b="0" dirty="0">
                <a:solidFill>
                  <a:srgbClr val="1E5A40"/>
                </a:solidFill>
              </a:rPr>
              <a:t>We need them to understand that their money should move better.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177BF-7519-41CE-BA4D-D36D9C02B3FC}"/>
              </a:ext>
            </a:extLst>
          </p:cNvPr>
          <p:cNvSpPr>
            <a:spLocks noGrp="1"/>
          </p:cNvSpPr>
          <p:nvPr/>
        </p:nvSpPr>
        <p:spPr>
          <a:xfrm>
            <a:off x="647700" y="49339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C0D0C"/>
                </a:solidFill>
              </a:defRPr>
            </a:pPr>
            <a:r>
              <a:rPr sz="2025" b="1">
                <a:solidFill>
                  <a:srgbClr val="0C0D0C"/>
                </a:solidFill>
              </a:rPr>
              <a:t>KOBOPAYMENTS.COM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DFF3A-AAAE-4DFC-87BE-22E54D2EC55D}"/>
              </a:ext>
            </a:extLst>
          </p:cNvPr>
          <p:cNvSpPr>
            <a:spLocks noGrp="1"/>
          </p:cNvSpPr>
          <p:nvPr/>
        </p:nvSpPr>
        <p:spPr>
          <a:xfrm>
            <a:off x="647700" y="53721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E5A40"/>
                </a:solidFill>
              </a:defRPr>
            </a:pPr>
            <a:r>
              <a:rPr sz="1500" b="1" dirty="0">
                <a:solidFill>
                  <a:srgbClr val="1E5A40"/>
                </a:solidFill>
              </a:rPr>
              <a:t>Join the waitlist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CE0C32-0B32-4494-BA32-98B87D411793}"/>
              </a:ext>
            </a:extLst>
          </p:cNvPr>
          <p:cNvSpPr>
            <a:spLocks noGrp="1"/>
          </p:cNvSpPr>
          <p:nvPr/>
        </p:nvSpPr>
        <p:spPr>
          <a:xfrm>
            <a:off x="647700" y="596265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C0D0C"/>
                </a:solidFill>
              </a:defRPr>
            </a:pPr>
            <a:r>
              <a:rPr sz="1350" b="1" dirty="0">
                <a:solidFill>
                  <a:srgbClr val="0C0D0C"/>
                </a:solidFill>
              </a:rPr>
              <a:t>@isaackobo  @shinakobo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176E26-9DE7-4832-AF90-205B82AC7EF3}"/>
              </a:ext>
            </a:extLst>
          </p:cNvPr>
          <p:cNvSpPr>
            <a:spLocks noGrp="1"/>
          </p:cNvSpPr>
          <p:nvPr/>
        </p:nvSpPr>
        <p:spPr>
          <a:xfrm>
            <a:off x="8839200" y="3943350"/>
            <a:ext cx="1866900" cy="1866900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91600" y="4095750"/>
            <a:ext cx="15621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97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285</TotalTime>
  <Words>1081</Words>
  <Application>Microsoft Office PowerPoint</Application>
  <DocSecurity>0</DocSecurity>
  <PresentationFormat>Widescreen</PresentationFormat>
  <Paragraphs>144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ISAAC ELUE</cp:lastModifiedBy>
  <cp:revision>7</cp:revision>
  <dcterms:created xsi:type="dcterms:W3CDTF">2026-09-02T16:00:20Z</dcterms:created>
  <dcterms:modified xsi:type="dcterms:W3CDTF">2026-09-02T22:41:22Z</dcterms:modified>
</cp:coreProperties>
</file>